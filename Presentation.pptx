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 MT Condensed" charset="1" panose="02030506070405020303"/>
      <p:regular r:id="rId24"/>
    </p:embeddedFont>
    <p:embeddedFont>
      <p:font typeface="Alef" charset="1" panose="00000500000000000000"/>
      <p:regular r:id="rId25"/>
    </p:embeddedFont>
    <p:embeddedFont>
      <p:font typeface="Times New Roman MT Condensed Bold" charset="1" panose="02030806070405020303"/>
      <p:regular r:id="rId26"/>
    </p:embeddedFont>
    <p:embeddedFont>
      <p:font typeface="Alef Bold" charset="1" panose="00000800000000000000"/>
      <p:regular r:id="rId27"/>
    </p:embeddedFont>
    <p:embeddedFont>
      <p:font typeface="Times New Roman MT Condensed Italics" charset="1" panose="0203050607040509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3692" y="732101"/>
            <a:ext cx="16800616" cy="8822798"/>
            <a:chOff x="0" y="0"/>
            <a:chExt cx="4424853" cy="232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4854" cy="2323700"/>
            </a:xfrm>
            <a:custGeom>
              <a:avLst/>
              <a:gdLst/>
              <a:ahLst/>
              <a:cxnLst/>
              <a:rect r="r" b="b" t="t" l="l"/>
              <a:pathLst>
                <a:path h="2323700" w="4424854">
                  <a:moveTo>
                    <a:pt x="10138" y="0"/>
                  </a:moveTo>
                  <a:lnTo>
                    <a:pt x="4414716" y="0"/>
                  </a:lnTo>
                  <a:cubicBezTo>
                    <a:pt x="4417404" y="0"/>
                    <a:pt x="4419983" y="1068"/>
                    <a:pt x="4421884" y="2969"/>
                  </a:cubicBezTo>
                  <a:cubicBezTo>
                    <a:pt x="4423785" y="4871"/>
                    <a:pt x="4424854" y="7449"/>
                    <a:pt x="4424854" y="10138"/>
                  </a:cubicBezTo>
                  <a:lnTo>
                    <a:pt x="4424854" y="2313562"/>
                  </a:lnTo>
                  <a:cubicBezTo>
                    <a:pt x="4424854" y="2316251"/>
                    <a:pt x="4423785" y="2318830"/>
                    <a:pt x="4421884" y="2320731"/>
                  </a:cubicBezTo>
                  <a:cubicBezTo>
                    <a:pt x="4419983" y="2322632"/>
                    <a:pt x="4417404" y="2323700"/>
                    <a:pt x="4414716" y="2323700"/>
                  </a:cubicBezTo>
                  <a:lnTo>
                    <a:pt x="10138" y="2323700"/>
                  </a:lnTo>
                  <a:cubicBezTo>
                    <a:pt x="7449" y="2323700"/>
                    <a:pt x="4871" y="2322632"/>
                    <a:pt x="2969" y="2320731"/>
                  </a:cubicBezTo>
                  <a:cubicBezTo>
                    <a:pt x="1068" y="2318830"/>
                    <a:pt x="0" y="2316251"/>
                    <a:pt x="0" y="2313562"/>
                  </a:cubicBezTo>
                  <a:lnTo>
                    <a:pt x="0" y="10138"/>
                  </a:lnTo>
                  <a:cubicBezTo>
                    <a:pt x="0" y="7449"/>
                    <a:pt x="1068" y="4871"/>
                    <a:pt x="2969" y="2969"/>
                  </a:cubicBezTo>
                  <a:cubicBezTo>
                    <a:pt x="4871" y="1068"/>
                    <a:pt x="7449" y="0"/>
                    <a:pt x="101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424853" cy="233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4057799" y="7404905"/>
            <a:ext cx="10172402" cy="53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13902" y="2021315"/>
            <a:ext cx="2452610" cy="2452610"/>
          </a:xfrm>
          <a:custGeom>
            <a:avLst/>
            <a:gdLst/>
            <a:ahLst/>
            <a:cxnLst/>
            <a:rect r="r" b="b" t="t" l="l"/>
            <a:pathLst>
              <a:path h="2452610" w="2452610">
                <a:moveTo>
                  <a:pt x="0" y="0"/>
                </a:moveTo>
                <a:lnTo>
                  <a:pt x="2452610" y="0"/>
                </a:lnTo>
                <a:lnTo>
                  <a:pt x="2452610" y="2452610"/>
                </a:lnTo>
                <a:lnTo>
                  <a:pt x="0" y="2452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49184" y="4512025"/>
            <a:ext cx="13589633" cy="257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The Impact of Facial Expression and Head Orientation on Personality Perception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5711" y="7661509"/>
            <a:ext cx="9876579" cy="109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2"/>
              </a:lnSpc>
            </a:pPr>
            <a:r>
              <a:rPr lang="en-US" sz="3115" spc="-171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Melike Kara(22203094)</a:t>
            </a:r>
          </a:p>
          <a:p>
            <a:pPr algn="ctr">
              <a:lnSpc>
                <a:spcPts val="4362"/>
              </a:lnSpc>
              <a:spcBef>
                <a:spcPct val="0"/>
              </a:spcBef>
            </a:pPr>
            <a:r>
              <a:rPr lang="en-US" sz="3115" spc="-171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Supervisor: Uğur Güdükbay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26830" y="2103420"/>
            <a:ext cx="17170" cy="818358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996538" y="3250553"/>
            <a:ext cx="7978265" cy="1311762"/>
            <a:chOff x="0" y="0"/>
            <a:chExt cx="1915887" cy="3150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5888" cy="315004"/>
            </a:xfrm>
            <a:custGeom>
              <a:avLst/>
              <a:gdLst/>
              <a:ahLst/>
              <a:cxnLst/>
              <a:rect r="r" b="b" t="t" l="l"/>
              <a:pathLst>
                <a:path h="315004" w="1915888">
                  <a:moveTo>
                    <a:pt x="21348" y="0"/>
                  </a:moveTo>
                  <a:lnTo>
                    <a:pt x="1894539" y="0"/>
                  </a:lnTo>
                  <a:cubicBezTo>
                    <a:pt x="1900201" y="0"/>
                    <a:pt x="1905631" y="2249"/>
                    <a:pt x="1909635" y="6253"/>
                  </a:cubicBezTo>
                  <a:cubicBezTo>
                    <a:pt x="1913638" y="10256"/>
                    <a:pt x="1915888" y="15686"/>
                    <a:pt x="1915888" y="21348"/>
                  </a:cubicBezTo>
                  <a:lnTo>
                    <a:pt x="1915888" y="293656"/>
                  </a:lnTo>
                  <a:cubicBezTo>
                    <a:pt x="1915888" y="305446"/>
                    <a:pt x="1906330" y="315004"/>
                    <a:pt x="1894539" y="315004"/>
                  </a:cubicBezTo>
                  <a:lnTo>
                    <a:pt x="21348" y="315004"/>
                  </a:lnTo>
                  <a:cubicBezTo>
                    <a:pt x="9558" y="315004"/>
                    <a:pt x="0" y="305446"/>
                    <a:pt x="0" y="293656"/>
                  </a:cubicBezTo>
                  <a:lnTo>
                    <a:pt x="0" y="21348"/>
                  </a:lnTo>
                  <a:cubicBezTo>
                    <a:pt x="0" y="9558"/>
                    <a:pt x="9558" y="0"/>
                    <a:pt x="213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15887" cy="315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96538" y="4771248"/>
            <a:ext cx="7947917" cy="3122635"/>
            <a:chOff x="0" y="0"/>
            <a:chExt cx="1908600" cy="7498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8600" cy="749864"/>
            </a:xfrm>
            <a:custGeom>
              <a:avLst/>
              <a:gdLst/>
              <a:ahLst/>
              <a:cxnLst/>
              <a:rect r="r" b="b" t="t" l="l"/>
              <a:pathLst>
                <a:path h="749864" w="1908600">
                  <a:moveTo>
                    <a:pt x="21430" y="0"/>
                  </a:moveTo>
                  <a:lnTo>
                    <a:pt x="1887170" y="0"/>
                  </a:lnTo>
                  <a:cubicBezTo>
                    <a:pt x="1892853" y="0"/>
                    <a:pt x="1898304" y="2258"/>
                    <a:pt x="1902323" y="6277"/>
                  </a:cubicBezTo>
                  <a:cubicBezTo>
                    <a:pt x="1906342" y="10296"/>
                    <a:pt x="1908600" y="15746"/>
                    <a:pt x="1908600" y="21430"/>
                  </a:cubicBezTo>
                  <a:lnTo>
                    <a:pt x="1908600" y="728435"/>
                  </a:lnTo>
                  <a:cubicBezTo>
                    <a:pt x="1908600" y="734118"/>
                    <a:pt x="1906342" y="739569"/>
                    <a:pt x="1902323" y="743588"/>
                  </a:cubicBezTo>
                  <a:cubicBezTo>
                    <a:pt x="1898304" y="747607"/>
                    <a:pt x="1892853" y="749864"/>
                    <a:pt x="1887170" y="749864"/>
                  </a:cubicBezTo>
                  <a:lnTo>
                    <a:pt x="21430" y="749864"/>
                  </a:lnTo>
                  <a:cubicBezTo>
                    <a:pt x="15746" y="749864"/>
                    <a:pt x="10296" y="747607"/>
                    <a:pt x="6277" y="743588"/>
                  </a:cubicBezTo>
                  <a:cubicBezTo>
                    <a:pt x="2258" y="739569"/>
                    <a:pt x="0" y="734118"/>
                    <a:pt x="0" y="728435"/>
                  </a:cubicBezTo>
                  <a:lnTo>
                    <a:pt x="0" y="21430"/>
                  </a:lnTo>
                  <a:cubicBezTo>
                    <a:pt x="0" y="15746"/>
                    <a:pt x="2258" y="10296"/>
                    <a:pt x="6277" y="6277"/>
                  </a:cubicBezTo>
                  <a:cubicBezTo>
                    <a:pt x="10296" y="2258"/>
                    <a:pt x="15746" y="0"/>
                    <a:pt x="214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08600" cy="749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90707" y="8181732"/>
            <a:ext cx="7953748" cy="1353915"/>
            <a:chOff x="0" y="0"/>
            <a:chExt cx="1910000" cy="325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0000" cy="325127"/>
            </a:xfrm>
            <a:custGeom>
              <a:avLst/>
              <a:gdLst/>
              <a:ahLst/>
              <a:cxnLst/>
              <a:rect r="r" b="b" t="t" l="l"/>
              <a:pathLst>
                <a:path h="325127" w="1910000">
                  <a:moveTo>
                    <a:pt x="21414" y="0"/>
                  </a:moveTo>
                  <a:lnTo>
                    <a:pt x="1888586" y="0"/>
                  </a:lnTo>
                  <a:cubicBezTo>
                    <a:pt x="1894265" y="0"/>
                    <a:pt x="1899712" y="2256"/>
                    <a:pt x="1903728" y="6272"/>
                  </a:cubicBezTo>
                  <a:cubicBezTo>
                    <a:pt x="1907744" y="10288"/>
                    <a:pt x="1910000" y="15735"/>
                    <a:pt x="1910000" y="21414"/>
                  </a:cubicBezTo>
                  <a:lnTo>
                    <a:pt x="1910000" y="303713"/>
                  </a:lnTo>
                  <a:cubicBezTo>
                    <a:pt x="1910000" y="309392"/>
                    <a:pt x="1907744" y="314839"/>
                    <a:pt x="1903728" y="318855"/>
                  </a:cubicBezTo>
                  <a:cubicBezTo>
                    <a:pt x="1899712" y="322871"/>
                    <a:pt x="1894265" y="325127"/>
                    <a:pt x="1888586" y="325127"/>
                  </a:cubicBezTo>
                  <a:lnTo>
                    <a:pt x="21414" y="325127"/>
                  </a:lnTo>
                  <a:cubicBezTo>
                    <a:pt x="15735" y="325127"/>
                    <a:pt x="10288" y="322871"/>
                    <a:pt x="6272" y="318855"/>
                  </a:cubicBezTo>
                  <a:cubicBezTo>
                    <a:pt x="2256" y="314839"/>
                    <a:pt x="0" y="309392"/>
                    <a:pt x="0" y="303713"/>
                  </a:cubicBezTo>
                  <a:lnTo>
                    <a:pt x="0" y="21414"/>
                  </a:lnTo>
                  <a:cubicBezTo>
                    <a:pt x="0" y="15735"/>
                    <a:pt x="2256" y="10288"/>
                    <a:pt x="6272" y="6272"/>
                  </a:cubicBezTo>
                  <a:cubicBezTo>
                    <a:pt x="10288" y="2256"/>
                    <a:pt x="15735" y="0"/>
                    <a:pt x="214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10000" cy="325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186171"/>
            <a:ext cx="673938" cy="675165"/>
          </a:xfrm>
          <a:custGeom>
            <a:avLst/>
            <a:gdLst/>
            <a:ahLst/>
            <a:cxnLst/>
            <a:rect r="r" b="b" t="t" l="l"/>
            <a:pathLst>
              <a:path h="675165" w="673938">
                <a:moveTo>
                  <a:pt x="0" y="0"/>
                </a:moveTo>
                <a:lnTo>
                  <a:pt x="673938" y="0"/>
                </a:lnTo>
                <a:lnTo>
                  <a:pt x="673938" y="675165"/>
                </a:lnTo>
                <a:lnTo>
                  <a:pt x="0" y="675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77761" y="3062346"/>
            <a:ext cx="5358503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Why Do Facial Expressions and Head Pose Matter for Personality Perception?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516163"/>
            <a:ext cx="7674268" cy="369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6"/>
              </a:lnSpc>
            </a:pPr>
            <a:r>
              <a:rPr lang="en-US" sz="2133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Motivation</a:t>
            </a:r>
          </a:p>
          <a:p>
            <a:pPr algn="just" marL="460567" indent="-230283" lvl="1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People rapidly form personality impressions from non-verbal cues such as facial expressions and head orientation.</a:t>
            </a:r>
          </a:p>
          <a:p>
            <a:pPr algn="just" marL="460567" indent="-230283" lvl="1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These impressions play a crucial role in social interaction, trust, and communication.</a:t>
            </a:r>
          </a:p>
          <a:p>
            <a:pPr algn="just" marL="460567" indent="-230283" lvl="1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With the rise of video-based communication, virtual humans, and neural rendering, understanding these cues has become increasingly important.</a:t>
            </a:r>
          </a:p>
          <a:p>
            <a:pPr algn="just">
              <a:lnSpc>
                <a:spcPts val="298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615900" y="3396719"/>
            <a:ext cx="7107255" cy="97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Prior research in social computing and affective computing shows that facial expressions, gaze, and head motion play a central role in how personality is perceived in video-based interactions.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68167" y="4943003"/>
            <a:ext cx="7487878" cy="323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Several studies demonstrate that personality traits—particularly Extraversion—can be predicted from facial expressions in conversational videos and vlogs. These works establish strong correlations between non-verbal behavior and perceived personality. However, these approaches are primarily observational:</a:t>
            </a:r>
          </a:p>
          <a:p>
            <a:pPr algn="just" marL="402541" indent="-201271" lvl="1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they analyze naturally occurring videos</a:t>
            </a:r>
          </a:p>
          <a:p>
            <a:pPr algn="just" marL="402541" indent="-201271" lvl="1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multiple factors (identity, speech content, expression, pose) vary simultaneously</a:t>
            </a:r>
          </a:p>
          <a:p>
            <a:pPr algn="just" marL="402541" indent="-201271" lvl="1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causal interpretation is therefore limited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654563" y="8393746"/>
            <a:ext cx="6849395" cy="97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As a result, it remains unclear which specific non-verbal cues actually drive changes in personality perception, and to what extent they do so independently.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51865" y="3186171"/>
            <a:ext cx="677684" cy="677684"/>
            <a:chOff x="0" y="0"/>
            <a:chExt cx="903579" cy="90357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03579" cy="903579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22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34395" y="19936"/>
              <a:ext cx="308579" cy="841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57181" y="4651786"/>
            <a:ext cx="677684" cy="677684"/>
            <a:chOff x="0" y="0"/>
            <a:chExt cx="903579" cy="90357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03579" cy="90357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22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4395" y="19936"/>
              <a:ext cx="308579" cy="841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57181" y="8025072"/>
            <a:ext cx="726369" cy="677684"/>
            <a:chOff x="0" y="0"/>
            <a:chExt cx="968491" cy="90357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68491" cy="903579"/>
              <a:chOff x="0" y="0"/>
              <a:chExt cx="871191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7119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1191">
                    <a:moveTo>
                      <a:pt x="435596" y="0"/>
                    </a:moveTo>
                    <a:cubicBezTo>
                      <a:pt x="195023" y="0"/>
                      <a:pt x="0" y="181951"/>
                      <a:pt x="0" y="406400"/>
                    </a:cubicBezTo>
                    <a:cubicBezTo>
                      <a:pt x="0" y="630849"/>
                      <a:pt x="195023" y="812800"/>
                      <a:pt x="435596" y="812800"/>
                    </a:cubicBezTo>
                    <a:cubicBezTo>
                      <a:pt x="676168" y="812800"/>
                      <a:pt x="871191" y="630849"/>
                      <a:pt x="871191" y="406400"/>
                    </a:cubicBezTo>
                    <a:cubicBezTo>
                      <a:pt x="871191" y="181951"/>
                      <a:pt x="676168" y="0"/>
                      <a:pt x="435596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1674" y="28575"/>
                <a:ext cx="707843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22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8417" y="19936"/>
              <a:ext cx="330748" cy="841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2012929"/>
            <a:ext cx="5358503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1. Introduction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320212" y="2388676"/>
            <a:ext cx="673938" cy="675165"/>
          </a:xfrm>
          <a:custGeom>
            <a:avLst/>
            <a:gdLst/>
            <a:ahLst/>
            <a:cxnLst/>
            <a:rect r="r" b="b" t="t" l="l"/>
            <a:pathLst>
              <a:path h="675165" w="673938">
                <a:moveTo>
                  <a:pt x="0" y="0"/>
                </a:moveTo>
                <a:lnTo>
                  <a:pt x="673938" y="0"/>
                </a:lnTo>
                <a:lnTo>
                  <a:pt x="673938" y="675166"/>
                </a:lnTo>
                <a:lnTo>
                  <a:pt x="0" y="675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165600" y="2373834"/>
            <a:ext cx="53585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What Prior Work Shows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528337" y="2110819"/>
            <a:ext cx="2789184" cy="1277953"/>
          </a:xfrm>
          <a:custGeom>
            <a:avLst/>
            <a:gdLst/>
            <a:ahLst/>
            <a:cxnLst/>
            <a:rect r="r" b="b" t="t" l="l"/>
            <a:pathLst>
              <a:path h="1277953" w="2789184">
                <a:moveTo>
                  <a:pt x="0" y="0"/>
                </a:moveTo>
                <a:lnTo>
                  <a:pt x="2789184" y="0"/>
                </a:lnTo>
                <a:lnTo>
                  <a:pt x="2789184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122" y="2507952"/>
            <a:ext cx="7041838" cy="16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2.1 Related Works</a:t>
            </a:r>
          </a:p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Personality Perception from Facial Behavior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122" y="4224978"/>
            <a:ext cx="16307395" cy="591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Cognitive neuroscience shows that the human visual system processes static facial features (identity) separately from 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dynamic cues</a:t>
            </a: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such as facial expression and head pose, using specialized neural pathways.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Research in social perception demonstrates that: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appearance and expression lead to systematic 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Big Five</a:t>
            </a: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personality impressions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These impressions 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emerge rapidly and consistently</a:t>
            </a: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, even without linguistic or biographical information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According to the 2D model of face evaluation, personality impressions are largely organized around: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Valence (intentions, trustworthiness)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Dominance (power, physical capability)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Dynamic nonverbal cues play a critical role: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motion and head orientation influence perceived personality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Even neutral faces can c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onvey different social meanings depending on orientation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Personality perception is strongly shaped by dynamic facial cues, not only static facial appearance.</a:t>
            </a: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528337" y="2110819"/>
            <a:ext cx="2789184" cy="1277953"/>
          </a:xfrm>
          <a:custGeom>
            <a:avLst/>
            <a:gdLst/>
            <a:ahLst/>
            <a:cxnLst/>
            <a:rect r="r" b="b" t="t" l="l"/>
            <a:pathLst>
              <a:path h="1277953" w="2789184">
                <a:moveTo>
                  <a:pt x="0" y="0"/>
                </a:moveTo>
                <a:lnTo>
                  <a:pt x="2789184" y="0"/>
                </a:lnTo>
                <a:lnTo>
                  <a:pt x="2789184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122" y="2507952"/>
            <a:ext cx="7041838" cy="16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2.2 Related Works</a:t>
            </a:r>
          </a:p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</a:t>
            </a:r>
            <a:r>
              <a:rPr lang="en-US" sz="33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eural Talking-Heads and Face Reenactment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122" y="4224978"/>
            <a:ext cx="16307395" cy="591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Neural Talking-Heads &amp; Controlled Face Reenactment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Recent advances in neural talking-head synthesis and face reenactment enable: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identity-preserving facial animation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motion transfer</a:t>
            </a: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driven by audio or source video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realistic expression and head pose control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Modern approaches typically: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disentangle identity appearance and facial motion in latent space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rely on unsupervised keypoints, local transforms, or dense motion fields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ensure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 temporal coherence </a:t>
            </a: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and</a:t>
            </a:r>
            <a:r>
              <a:rPr lang="en-US" b="true" sz="240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 expressive realism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Recent reaearchs increasingly emphasize social interaction: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Interactive talking–listening behaviors</a:t>
            </a:r>
          </a:p>
          <a:p>
            <a:pPr algn="just" marL="1036320" indent="-345440" lvl="2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Socially meaningful nonverbal cues in conversational settings</a:t>
            </a: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528337" y="2110819"/>
            <a:ext cx="2789184" cy="1277953"/>
          </a:xfrm>
          <a:custGeom>
            <a:avLst/>
            <a:gdLst/>
            <a:ahLst/>
            <a:cxnLst/>
            <a:rect r="r" b="b" t="t" l="l"/>
            <a:pathLst>
              <a:path h="1277953" w="2789184">
                <a:moveTo>
                  <a:pt x="0" y="0"/>
                </a:moveTo>
                <a:lnTo>
                  <a:pt x="2789184" y="0"/>
                </a:lnTo>
                <a:lnTo>
                  <a:pt x="2789184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122" y="2507952"/>
            <a:ext cx="7041838" cy="16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2.2 Related Works</a:t>
            </a:r>
          </a:p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</a:t>
            </a:r>
            <a:r>
              <a:rPr lang="en-US" sz="33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eural Talking-Heads and Face Reenactment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03061" y="4752402"/>
            <a:ext cx="8863501" cy="4762600"/>
            <a:chOff x="0" y="0"/>
            <a:chExt cx="2104132" cy="11306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132" cy="1130607"/>
            </a:xfrm>
            <a:custGeom>
              <a:avLst/>
              <a:gdLst/>
              <a:ahLst/>
              <a:cxnLst/>
              <a:rect r="r" b="b" t="t" l="l"/>
              <a:pathLst>
                <a:path h="1130607" w="2104132">
                  <a:moveTo>
                    <a:pt x="19216" y="0"/>
                  </a:moveTo>
                  <a:lnTo>
                    <a:pt x="2084916" y="0"/>
                  </a:lnTo>
                  <a:cubicBezTo>
                    <a:pt x="2095528" y="0"/>
                    <a:pt x="2104132" y="8603"/>
                    <a:pt x="2104132" y="19216"/>
                  </a:cubicBezTo>
                  <a:lnTo>
                    <a:pt x="2104132" y="1111391"/>
                  </a:lnTo>
                  <a:cubicBezTo>
                    <a:pt x="2104132" y="1116487"/>
                    <a:pt x="2102107" y="1121375"/>
                    <a:pt x="2098503" y="1124979"/>
                  </a:cubicBezTo>
                  <a:cubicBezTo>
                    <a:pt x="2094900" y="1128583"/>
                    <a:pt x="2090012" y="1130607"/>
                    <a:pt x="2084916" y="1130607"/>
                  </a:cubicBezTo>
                  <a:lnTo>
                    <a:pt x="19216" y="1130607"/>
                  </a:lnTo>
                  <a:cubicBezTo>
                    <a:pt x="8603" y="1130607"/>
                    <a:pt x="0" y="1122004"/>
                    <a:pt x="0" y="1111391"/>
                  </a:cubicBezTo>
                  <a:lnTo>
                    <a:pt x="0" y="19216"/>
                  </a:lnTo>
                  <a:cubicBezTo>
                    <a:pt x="0" y="8603"/>
                    <a:pt x="8603" y="0"/>
                    <a:pt x="192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4132" cy="114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31944" y="5149265"/>
            <a:ext cx="8012056" cy="4088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1"/>
              </a:lnSpc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Most prior systems:</a:t>
            </a:r>
          </a:p>
          <a:p>
            <a:pPr algn="just" marL="1053928" indent="-351309" lvl="2">
              <a:lnSpc>
                <a:spcPts val="3661"/>
              </a:lnSpc>
              <a:buFont typeface="Arial"/>
              <a:buChar char="⚬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vary </a:t>
            </a:r>
            <a:r>
              <a:rPr lang="en-US" b="true" sz="2440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multiple cues</a:t>
            </a: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simultaneously (expression, pose, audio, identity)</a:t>
            </a:r>
          </a:p>
          <a:p>
            <a:pPr algn="just">
              <a:lnSpc>
                <a:spcPts val="3661"/>
              </a:lnSpc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This makes it difficult to determine:</a:t>
            </a:r>
          </a:p>
          <a:p>
            <a:pPr algn="just" marL="1053928" indent="-351309" lvl="2">
              <a:lnSpc>
                <a:spcPts val="3661"/>
              </a:lnSpc>
              <a:buFont typeface="Arial"/>
              <a:buChar char="⚬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whether perceived personality differences arise from</a:t>
            </a:r>
          </a:p>
          <a:p>
            <a:pPr algn="just" marL="1580892" indent="-395223" lvl="3">
              <a:lnSpc>
                <a:spcPts val="3661"/>
              </a:lnSpc>
              <a:buFont typeface="Arial"/>
              <a:buChar char="￭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motion itself</a:t>
            </a:r>
          </a:p>
          <a:p>
            <a:pPr algn="just" marL="1580892" indent="-395223" lvl="3">
              <a:lnSpc>
                <a:spcPts val="3661"/>
              </a:lnSpc>
              <a:buFont typeface="Arial"/>
              <a:buChar char="￭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dentity or linguistic content</a:t>
            </a:r>
          </a:p>
          <a:p>
            <a:pPr algn="just" marL="1580892" indent="-395223" lvl="3">
              <a:lnSpc>
                <a:spcPts val="3661"/>
              </a:lnSpc>
              <a:buFont typeface="Arial"/>
              <a:buChar char="￭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or synthesis artifacts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3689" y="4597583"/>
            <a:ext cx="4264267" cy="454430"/>
            <a:chOff x="0" y="0"/>
            <a:chExt cx="1012306" cy="1078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2306" cy="107878"/>
            </a:xfrm>
            <a:custGeom>
              <a:avLst/>
              <a:gdLst/>
              <a:ahLst/>
              <a:cxnLst/>
              <a:rect r="r" b="b" t="t" l="l"/>
              <a:pathLst>
                <a:path h="107878" w="1012306">
                  <a:moveTo>
                    <a:pt x="53939" y="0"/>
                  </a:moveTo>
                  <a:lnTo>
                    <a:pt x="958367" y="0"/>
                  </a:lnTo>
                  <a:cubicBezTo>
                    <a:pt x="972673" y="0"/>
                    <a:pt x="986392" y="5683"/>
                    <a:pt x="996508" y="15798"/>
                  </a:cubicBezTo>
                  <a:cubicBezTo>
                    <a:pt x="1006623" y="25914"/>
                    <a:pt x="1012306" y="39634"/>
                    <a:pt x="1012306" y="53939"/>
                  </a:cubicBezTo>
                  <a:lnTo>
                    <a:pt x="1012306" y="53939"/>
                  </a:lnTo>
                  <a:cubicBezTo>
                    <a:pt x="1012306" y="83729"/>
                    <a:pt x="988157" y="107878"/>
                    <a:pt x="958367" y="107878"/>
                  </a:cubicBezTo>
                  <a:lnTo>
                    <a:pt x="53939" y="107878"/>
                  </a:lnTo>
                  <a:cubicBezTo>
                    <a:pt x="39634" y="107878"/>
                    <a:pt x="25914" y="102196"/>
                    <a:pt x="15798" y="92080"/>
                  </a:cubicBezTo>
                  <a:cubicBezTo>
                    <a:pt x="5683" y="81964"/>
                    <a:pt x="0" y="68245"/>
                    <a:pt x="0" y="53939"/>
                  </a:cubicBezTo>
                  <a:lnTo>
                    <a:pt x="0" y="53939"/>
                  </a:lnTo>
                  <a:cubicBezTo>
                    <a:pt x="0" y="39634"/>
                    <a:pt x="5683" y="25914"/>
                    <a:pt x="15798" y="15798"/>
                  </a:cubicBezTo>
                  <a:cubicBezTo>
                    <a:pt x="25914" y="5683"/>
                    <a:pt x="39634" y="0"/>
                    <a:pt x="53939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12306" cy="15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6475" y="4563204"/>
            <a:ext cx="6093213" cy="92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6"/>
              </a:lnSpc>
            </a:pPr>
            <a:r>
              <a:rPr lang="en-US" sz="2704">
                <a:solidFill>
                  <a:srgbClr val="F9FAF8"/>
                </a:solidFill>
                <a:latin typeface="Alef"/>
                <a:ea typeface="Alef"/>
                <a:cs typeface="Alef"/>
                <a:sym typeface="Alef"/>
              </a:rPr>
              <a:t>Limitation of Prior Work</a:t>
            </a:r>
          </a:p>
          <a:p>
            <a:pPr algn="just">
              <a:lnSpc>
                <a:spcPts val="3786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0057829" y="4826243"/>
            <a:ext cx="7975711" cy="4688759"/>
            <a:chOff x="0" y="0"/>
            <a:chExt cx="1893377" cy="1113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376" cy="1113078"/>
            </a:xfrm>
            <a:custGeom>
              <a:avLst/>
              <a:gdLst/>
              <a:ahLst/>
              <a:cxnLst/>
              <a:rect r="r" b="b" t="t" l="l"/>
              <a:pathLst>
                <a:path h="1113078" w="1893376">
                  <a:moveTo>
                    <a:pt x="21355" y="0"/>
                  </a:moveTo>
                  <a:lnTo>
                    <a:pt x="1872021" y="0"/>
                  </a:lnTo>
                  <a:cubicBezTo>
                    <a:pt x="1877685" y="0"/>
                    <a:pt x="1883117" y="2250"/>
                    <a:pt x="1887122" y="6255"/>
                  </a:cubicBezTo>
                  <a:cubicBezTo>
                    <a:pt x="1891127" y="10260"/>
                    <a:pt x="1893376" y="15691"/>
                    <a:pt x="1893376" y="21355"/>
                  </a:cubicBezTo>
                  <a:lnTo>
                    <a:pt x="1893376" y="1091723"/>
                  </a:lnTo>
                  <a:cubicBezTo>
                    <a:pt x="1893376" y="1097387"/>
                    <a:pt x="1891127" y="1102818"/>
                    <a:pt x="1887122" y="1106823"/>
                  </a:cubicBezTo>
                  <a:cubicBezTo>
                    <a:pt x="1883117" y="1110828"/>
                    <a:pt x="1877685" y="1113078"/>
                    <a:pt x="1872021" y="1113078"/>
                  </a:cubicBezTo>
                  <a:lnTo>
                    <a:pt x="21355" y="1113078"/>
                  </a:lnTo>
                  <a:cubicBezTo>
                    <a:pt x="15691" y="1113078"/>
                    <a:pt x="10260" y="1110828"/>
                    <a:pt x="6255" y="1106823"/>
                  </a:cubicBezTo>
                  <a:cubicBezTo>
                    <a:pt x="2250" y="1102818"/>
                    <a:pt x="0" y="1097387"/>
                    <a:pt x="0" y="1091723"/>
                  </a:cubicBezTo>
                  <a:lnTo>
                    <a:pt x="0" y="21355"/>
                  </a:lnTo>
                  <a:cubicBezTo>
                    <a:pt x="0" y="15691"/>
                    <a:pt x="2250" y="10260"/>
                    <a:pt x="6255" y="6255"/>
                  </a:cubicBezTo>
                  <a:cubicBezTo>
                    <a:pt x="10260" y="2250"/>
                    <a:pt x="15691" y="0"/>
                    <a:pt x="213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893377" cy="112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55455" y="4610829"/>
            <a:ext cx="4264267" cy="454430"/>
            <a:chOff x="0" y="0"/>
            <a:chExt cx="1012306" cy="1078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2306" cy="107878"/>
            </a:xfrm>
            <a:custGeom>
              <a:avLst/>
              <a:gdLst/>
              <a:ahLst/>
              <a:cxnLst/>
              <a:rect r="r" b="b" t="t" l="l"/>
              <a:pathLst>
                <a:path h="107878" w="1012306">
                  <a:moveTo>
                    <a:pt x="53939" y="0"/>
                  </a:moveTo>
                  <a:lnTo>
                    <a:pt x="958367" y="0"/>
                  </a:lnTo>
                  <a:cubicBezTo>
                    <a:pt x="972673" y="0"/>
                    <a:pt x="986392" y="5683"/>
                    <a:pt x="996508" y="15798"/>
                  </a:cubicBezTo>
                  <a:cubicBezTo>
                    <a:pt x="1006623" y="25914"/>
                    <a:pt x="1012306" y="39634"/>
                    <a:pt x="1012306" y="53939"/>
                  </a:cubicBezTo>
                  <a:lnTo>
                    <a:pt x="1012306" y="53939"/>
                  </a:lnTo>
                  <a:cubicBezTo>
                    <a:pt x="1012306" y="83729"/>
                    <a:pt x="988157" y="107878"/>
                    <a:pt x="958367" y="107878"/>
                  </a:cubicBezTo>
                  <a:lnTo>
                    <a:pt x="53939" y="107878"/>
                  </a:lnTo>
                  <a:cubicBezTo>
                    <a:pt x="39634" y="107878"/>
                    <a:pt x="25914" y="102196"/>
                    <a:pt x="15798" y="92080"/>
                  </a:cubicBezTo>
                  <a:cubicBezTo>
                    <a:pt x="5683" y="81964"/>
                    <a:pt x="0" y="68245"/>
                    <a:pt x="0" y="53939"/>
                  </a:cubicBezTo>
                  <a:lnTo>
                    <a:pt x="0" y="53939"/>
                  </a:lnTo>
                  <a:cubicBezTo>
                    <a:pt x="0" y="39634"/>
                    <a:pt x="5683" y="25914"/>
                    <a:pt x="15798" y="15798"/>
                  </a:cubicBezTo>
                  <a:cubicBezTo>
                    <a:pt x="25914" y="5683"/>
                    <a:pt x="39634" y="0"/>
                    <a:pt x="53939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12306" cy="15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350065" y="5426522"/>
            <a:ext cx="7450795" cy="4088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1"/>
              </a:lnSpc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We adopt a controlled, ceteris-paribus design:</a:t>
            </a:r>
          </a:p>
          <a:p>
            <a:pPr algn="just" marL="526967" indent="-263484" lvl="1">
              <a:lnSpc>
                <a:spcPts val="3661"/>
              </a:lnSpc>
              <a:buFont typeface="Arial"/>
              <a:buChar char="•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fixed identity, audio, lighting, background, and duration</a:t>
            </a:r>
          </a:p>
          <a:p>
            <a:pPr algn="just" marL="526967" indent="-263484" lvl="1">
              <a:lnSpc>
                <a:spcPts val="3661"/>
              </a:lnSpc>
              <a:buFont typeface="Arial"/>
              <a:buChar char="•"/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isolated manipulation of facial expression and head orientation</a:t>
            </a:r>
          </a:p>
          <a:p>
            <a:pPr algn="just">
              <a:lnSpc>
                <a:spcPts val="3661"/>
              </a:lnSpc>
            </a:pPr>
          </a:p>
          <a:p>
            <a:pPr algn="just">
              <a:lnSpc>
                <a:spcPts val="3661"/>
              </a:lnSpc>
            </a:pPr>
            <a:r>
              <a:rPr lang="en-US" sz="244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Our work aim to establish causal links between isolated nonverbal cues and personality perception.</a:t>
            </a:r>
          </a:p>
          <a:p>
            <a:pPr algn="just">
              <a:lnSpc>
                <a:spcPts val="3661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596629" y="4563204"/>
            <a:ext cx="4350149" cy="140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6"/>
              </a:lnSpc>
            </a:pPr>
            <a:r>
              <a:rPr lang="en-US" sz="2704">
                <a:solidFill>
                  <a:srgbClr val="F9FAF8"/>
                </a:solidFill>
                <a:latin typeface="Alef"/>
                <a:ea typeface="Alef"/>
                <a:cs typeface="Alef"/>
                <a:sym typeface="Alef"/>
              </a:rPr>
              <a:t>Our Contribution</a:t>
            </a:r>
          </a:p>
          <a:p>
            <a:pPr algn="just" marL="583989" indent="-291995" lvl="1">
              <a:lnSpc>
                <a:spcPts val="3786"/>
              </a:lnSpc>
              <a:buFont typeface="Arial"/>
              <a:buChar char="•"/>
            </a:pPr>
          </a:p>
          <a:p>
            <a:pPr algn="just">
              <a:lnSpc>
                <a:spcPts val="37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2780" y="3716383"/>
            <a:ext cx="13883665" cy="48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Base Identity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single identity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is used throughout the study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Reference images: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neutral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facial expression, uniform lighting, head-only portrait views (frontal and left)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Identity images selected from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CMU Multi-PIE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controlled capture conditions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consistent background and illumination</a:t>
            </a:r>
          </a:p>
          <a:p>
            <a:pPr algn="just">
              <a:lnSpc>
                <a:spcPts val="3599"/>
              </a:lnSpc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Using a single identity sacrifices generalizability but provides a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clean experimental setup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, allowing perceptual differences to be attributed directly to dynamic nonverbal cues rather than static facial appearance.</a:t>
            </a:r>
          </a:p>
          <a:p>
            <a:pPr algn="just">
              <a:lnSpc>
                <a:spcPts val="35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1038" y="3773533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4"/>
                </a:lnTo>
                <a:lnTo>
                  <a:pt x="0" y="405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3.Stimuli Generation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3.Stimuli Generation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8227" y="3716383"/>
            <a:ext cx="13489639" cy="533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Dr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iving Videos &amp; Emotion Selection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motion sourced from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RAVDESS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: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pro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fessionally acted emotional speech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natural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facial motion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and head dynamics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A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udio removed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to eliminate emotional tone of voice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Clips are around 3-4 seconds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Four 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emotional expresions selected: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Anger, Happiness, 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Sadness, S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u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rpr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se</a:t>
            </a:r>
          </a:p>
          <a:p>
            <a:pPr algn="just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Driving </a:t>
            </a: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clips manually chosen to ensure: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clear emotional dominance</a:t>
            </a:r>
          </a:p>
          <a:p>
            <a:pPr algn="just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comparable duration and </a:t>
            </a:r>
            <a:r>
              <a:rPr lang="en-US" b="true" sz="23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expressive intensity</a:t>
            </a:r>
          </a:p>
          <a:p>
            <a:pPr algn="just">
              <a:lnSpc>
                <a:spcPts val="35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1038" y="3773533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4"/>
                </a:lnTo>
                <a:lnTo>
                  <a:pt x="0" y="405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78782" y="3897358"/>
            <a:ext cx="8913029" cy="3934413"/>
          </a:xfrm>
          <a:custGeom>
            <a:avLst/>
            <a:gdLst/>
            <a:ahLst/>
            <a:cxnLst/>
            <a:rect r="r" b="b" t="t" l="l"/>
            <a:pathLst>
              <a:path h="3934413" w="8913029">
                <a:moveTo>
                  <a:pt x="0" y="0"/>
                </a:moveTo>
                <a:lnTo>
                  <a:pt x="8913030" y="0"/>
                </a:lnTo>
                <a:lnTo>
                  <a:pt x="8913030" y="3934412"/>
                </a:lnTo>
                <a:lnTo>
                  <a:pt x="0" y="393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3.Stimuli Generation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11131" y="7971992"/>
            <a:ext cx="4931998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Fig. 1. Overview of the neural reenactment pipeline based on LivePortrait.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8809" y="3453303"/>
            <a:ext cx="7229006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Neur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al Reenactment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Talk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ing-head videos generated using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LivePortrait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Model disentangles: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ide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ntity-specific appearance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expression and head orientation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Moti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on transfer achieved via: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dense motion fields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implicit keypoints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High-fi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delity reenactment minimizes: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expression smoothing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rendering artifacts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un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canny valley effects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Design Choice: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Perceived personality should be driven by social cues, not synthesis artifacts.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23484" y="3491403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5"/>
                </a:lnTo>
                <a:lnTo>
                  <a:pt x="0" y="40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3484" y="3491403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5"/>
                </a:lnTo>
                <a:lnTo>
                  <a:pt x="0" y="40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0214" y="4321301"/>
            <a:ext cx="9309611" cy="4060294"/>
          </a:xfrm>
          <a:custGeom>
            <a:avLst/>
            <a:gdLst/>
            <a:ahLst/>
            <a:cxnLst/>
            <a:rect r="r" b="b" t="t" l="l"/>
            <a:pathLst>
              <a:path h="4060294" w="9309611">
                <a:moveTo>
                  <a:pt x="0" y="0"/>
                </a:moveTo>
                <a:lnTo>
                  <a:pt x="9309611" y="0"/>
                </a:lnTo>
                <a:lnTo>
                  <a:pt x="9309611" y="4060294"/>
                </a:lnTo>
                <a:lnTo>
                  <a:pt x="0" y="4060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3.Stimuli Generation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05971" y="8556845"/>
            <a:ext cx="617595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Fig. 2. Pair construction strategy used in the user study.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8809" y="3453303"/>
            <a:ext cx="7229006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Pair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Construction (Ceteris Paribus)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From 8 bas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 conditions, we construct 10 comparison pairs: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Same emotion, different hea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 po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se (4 pairs)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frontal vs. left-facing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isolates head orientation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Dif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ferent emotion, same head pose (6 pairs)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frontal vi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ew only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isolates facial expression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resentation controls: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ndomized p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air order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randomized left–right placement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Outcome: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Each comparison isolates one visual factor at a time, enabling interpretation.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009408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4"/>
                </a:lnTo>
                <a:lnTo>
                  <a:pt x="0" y="405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4.Experiments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4025" y="3971308"/>
            <a:ext cx="7229006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tudy Design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Forced-choice pa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irwise comparison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paradigm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artic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ipa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nts compare two neural-rendered talking-he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 v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ideos at a time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Each comparison isolates one visual factor (expression or head pose)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6532908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6" y="0"/>
                </a:lnTo>
                <a:lnTo>
                  <a:pt x="405216" y="405955"/>
                </a:lnTo>
                <a:lnTo>
                  <a:pt x="0" y="40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4025" y="6494808"/>
            <a:ext cx="7229006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cipant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 =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80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partic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ipa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nts recruite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 v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ia Prolific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L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ocation: UK &amp; US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Fluent in English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Desktop / laptop usage required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600064" y="4019990"/>
            <a:ext cx="7229006" cy="505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Proce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dure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Web-based inte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rface with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informed consent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artic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ipa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nts complete all tasks sequentially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Each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v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ideo pair evaluated on 6 dimensions: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Openness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Conscientiousness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Extraversion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Agreeableness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Emotional Stability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Naturalness (control)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Forced-choice answers:</a:t>
            </a:r>
          </a:p>
          <a:p>
            <a:pPr algn="just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Left / Equal / Right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910441" y="4058090"/>
            <a:ext cx="405216" cy="405954"/>
          </a:xfrm>
          <a:custGeom>
            <a:avLst/>
            <a:gdLst/>
            <a:ahLst/>
            <a:cxnLst/>
            <a:rect r="r" b="b" t="t" l="l"/>
            <a:pathLst>
              <a:path h="405954" w="405216">
                <a:moveTo>
                  <a:pt x="0" y="0"/>
                </a:moveTo>
                <a:lnTo>
                  <a:pt x="405217" y="0"/>
                </a:lnTo>
                <a:lnTo>
                  <a:pt x="405217" y="405955"/>
                </a:lnTo>
                <a:lnTo>
                  <a:pt x="0" y="40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89219" y="3552086"/>
            <a:ext cx="13540264" cy="4739092"/>
          </a:xfrm>
          <a:custGeom>
            <a:avLst/>
            <a:gdLst/>
            <a:ahLst/>
            <a:cxnLst/>
            <a:rect r="r" b="b" t="t" l="l"/>
            <a:pathLst>
              <a:path h="4739092" w="13540264">
                <a:moveTo>
                  <a:pt x="0" y="0"/>
                </a:moveTo>
                <a:lnTo>
                  <a:pt x="13540264" y="0"/>
                </a:lnTo>
                <a:lnTo>
                  <a:pt x="13540264" y="4739093"/>
                </a:lnTo>
                <a:lnTo>
                  <a:pt x="0" y="4739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8809" y="2206932"/>
            <a:ext cx="5310635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4.Experiments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9444" y="8576031"/>
            <a:ext cx="6175952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Fig. 3. Screenshots from the user study: a pair with the same expression (left) and different poses, and different expressions with a frontal view (right).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4427" y="3381670"/>
            <a:ext cx="7964873" cy="5416113"/>
          </a:xfrm>
          <a:custGeom>
            <a:avLst/>
            <a:gdLst/>
            <a:ahLst/>
            <a:cxnLst/>
            <a:rect r="r" b="b" t="t" l="l"/>
            <a:pathLst>
              <a:path h="5416113" w="7964873">
                <a:moveTo>
                  <a:pt x="0" y="0"/>
                </a:moveTo>
                <a:lnTo>
                  <a:pt x="7964873" y="0"/>
                </a:lnTo>
                <a:lnTo>
                  <a:pt x="7964873" y="5416113"/>
                </a:lnTo>
                <a:lnTo>
                  <a:pt x="0" y="5416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8809" y="2206932"/>
            <a:ext cx="5905382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5.Analysis and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8809" y="3343570"/>
            <a:ext cx="7229006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Bradley–Terry Analysis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We apply Bradley–Terry modeling to obtain probabilistic rankings of facial expressions for each trait.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Results reveal a clear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dominance of happy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expressions for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positive social traits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Agreeableness: BT = 0.94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Openness: BT = 0.71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Strong effects also observed for: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Extraversion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Emotional Stability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Key insight: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Happy expressions are the strongest indicator of positive personality perception in neural-rendered faces.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8809" y="2206932"/>
            <a:ext cx="5905382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5.Analysis and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19745"/>
            <a:ext cx="7229006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Arousal vs.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Valence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Angry expressions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also score relatively high in Extraversion (BT = 0.33),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espite being negatively valenced.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This suggests: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High emotional arousal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, rather than positivity alone, contributes to perceived extraversion.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onscientiousness &amp; Naturalness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Unlike other traits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Surpris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 scores highest for conscientiousness (BT = 0.38).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Happy expressions are perceived as the most natural, but do not dominate conscientiousness.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Interpretation: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Participants did not simply select the most natural-looking videos, indicating no halo effect.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94427" y="3381670"/>
            <a:ext cx="7964873" cy="5416113"/>
          </a:xfrm>
          <a:custGeom>
            <a:avLst/>
            <a:gdLst/>
            <a:ahLst/>
            <a:cxnLst/>
            <a:rect r="r" b="b" t="t" l="l"/>
            <a:pathLst>
              <a:path h="5416113" w="7964873">
                <a:moveTo>
                  <a:pt x="0" y="0"/>
                </a:moveTo>
                <a:lnTo>
                  <a:pt x="7964873" y="0"/>
                </a:lnTo>
                <a:lnTo>
                  <a:pt x="7964873" y="5416113"/>
                </a:lnTo>
                <a:lnTo>
                  <a:pt x="0" y="5416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875455"/>
            <a:ext cx="8312706" cy="4031663"/>
          </a:xfrm>
          <a:custGeom>
            <a:avLst/>
            <a:gdLst/>
            <a:ahLst/>
            <a:cxnLst/>
            <a:rect r="r" b="b" t="t" l="l"/>
            <a:pathLst>
              <a:path h="4031663" w="8312706">
                <a:moveTo>
                  <a:pt x="0" y="0"/>
                </a:moveTo>
                <a:lnTo>
                  <a:pt x="8312706" y="0"/>
                </a:lnTo>
                <a:lnTo>
                  <a:pt x="8312706" y="4031663"/>
                </a:lnTo>
                <a:lnTo>
                  <a:pt x="0" y="4031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8809" y="2206932"/>
            <a:ext cx="5905382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5.Analysis and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8809" y="3534070"/>
            <a:ext cx="7229006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Pairwis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 Comparisons &amp; Head Orientation Effects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Pairwise Emotion Comparisons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Binomial tests confirm: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Happy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expressions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dominate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Angry and Sad expressions especially  for: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Agreeableness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ional Stabil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ty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Example: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Happy vs. Angry: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Agreeableness = 1.00*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Emotional Stability = 0.94*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Sad vs. Surprise: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No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significant differences across traits (p &gt; 0.05)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→ Nearly indistinguishable personality profiles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8809" y="2206932"/>
            <a:ext cx="5905382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5.Analysis and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34070"/>
            <a:ext cx="8115300" cy="349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Influenc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 of Head Orientation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Comparing frontal vs. left-facing views under identical expressions: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Frontal view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perceived as more: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Ext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raverted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ionally stable (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 mos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 cases)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Exce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ption: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sad expressions, left-facing orientation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favored for emotional stability.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51038" y="7690969"/>
            <a:ext cx="9079901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Head orientation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does not carry a fixed social meaning. Its effect </a:t>
            </a:r>
            <a:r>
              <a:rPr lang="en-US" b="true" sz="2199">
                <a:solidFill>
                  <a:srgbClr val="231F20"/>
                </a:solidFill>
                <a:latin typeface="Alef Bold"/>
                <a:ea typeface="Alef Bold"/>
                <a:cs typeface="Alef Bold"/>
                <a:sym typeface="Alef Bold"/>
              </a:rPr>
              <a:t>depends on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both the underlying emotional expression and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the pe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rsonality trait b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eing judged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541" y="2982344"/>
            <a:ext cx="7773421" cy="5920756"/>
          </a:xfrm>
          <a:custGeom>
            <a:avLst/>
            <a:gdLst/>
            <a:ahLst/>
            <a:cxnLst/>
            <a:rect r="r" b="b" t="t" l="l"/>
            <a:pathLst>
              <a:path h="5920756" w="7773421">
                <a:moveTo>
                  <a:pt x="0" y="0"/>
                </a:moveTo>
                <a:lnTo>
                  <a:pt x="7773421" y="0"/>
                </a:lnTo>
                <a:lnTo>
                  <a:pt x="7773421" y="5920755"/>
                </a:lnTo>
                <a:lnTo>
                  <a:pt x="0" y="5920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8809" y="2206932"/>
            <a:ext cx="8378989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6.Conclusion and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6752" y="3219745"/>
            <a:ext cx="16160259" cy="701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Conclusion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We studied personality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perc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eption in neural-rendered talking-head videos using: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4 fac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ial expressions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2 head orientations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controlled pairwise comparisons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Key findings: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Facial expression is the prim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ary driver of perceived personality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Happy expressions dominate:</a:t>
            </a:r>
          </a:p>
          <a:p>
            <a:pPr algn="just" marL="1899918" indent="-379984" lvl="4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xt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raver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ion</a:t>
            </a:r>
          </a:p>
          <a:p>
            <a:pPr algn="just" marL="1899918" indent="-379984" lvl="4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Agreeableness</a:t>
            </a:r>
          </a:p>
          <a:p>
            <a:pPr algn="just" marL="1899918" indent="-379984" lvl="4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Emotional Stability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Sad and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surprised expres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ions ar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 perceived as conceptually similar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Head orientation interacts with expression: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Frontal view → more extraverted</a:t>
            </a:r>
          </a:p>
          <a:p>
            <a:pPr algn="just" marL="1424938" indent="-356235" lvl="3">
              <a:lnSpc>
                <a:spcPts val="3079"/>
              </a:lnSpc>
              <a:buFont typeface="Arial"/>
              <a:buChar char="￭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Side view → higher 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motional stability, especially for sad and surprised expressions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Participants rely on dynamic nonverbal cue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s, not perceiv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ed naturalness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Personality perception emerges from dynamic changes in expression and head pose, not from static realism.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3375" y="2426007"/>
            <a:ext cx="555325" cy="556337"/>
          </a:xfrm>
          <a:custGeom>
            <a:avLst/>
            <a:gdLst/>
            <a:ahLst/>
            <a:cxnLst/>
            <a:rect r="r" b="b" t="t" l="l"/>
            <a:pathLst>
              <a:path h="556337" w="555325">
                <a:moveTo>
                  <a:pt x="0" y="0"/>
                </a:moveTo>
                <a:lnTo>
                  <a:pt x="555325" y="0"/>
                </a:lnTo>
                <a:lnTo>
                  <a:pt x="555325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8809" y="2206932"/>
            <a:ext cx="8378989" cy="10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231F2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6.Conclusion and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6752" y="3343570"/>
            <a:ext cx="16160259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Design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Impli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ca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tions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Findings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an be translated into automated design rules for: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animation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gam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es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v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irtual agents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Example: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switch from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frontal → side view when expressing 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adness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use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high-ene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rgy expres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ions + frontal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 view to emphasize extraversion and agreeableness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Future Work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Integrate auditory cues (voice, pr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osody, dialogue), especially for: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conscientiousness, which is weakly conveyed visually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Study longer interaction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s to exami</a:t>
            </a: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ne: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temporal stability of personality perception</a:t>
            </a:r>
          </a:p>
          <a:p>
            <a:pPr algn="just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adaptation effects over time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Extend beyond short-term exposure and single identity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645424" y="2103417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959518" y="4848225"/>
            <a:ext cx="11920345" cy="144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6"/>
              </a:lnSpc>
            </a:pPr>
            <a:r>
              <a:rPr lang="en-US" sz="7597" i="true">
                <a:solidFill>
                  <a:srgbClr val="231F2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 for listening 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2231" y="6006699"/>
            <a:ext cx="10445048" cy="14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66"/>
              </a:lnSpc>
            </a:pPr>
            <a:r>
              <a:rPr lang="en-US" sz="733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Q&amp;A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4741"/>
            <a:ext cx="5735925" cy="38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231F20"/>
                </a:solidFill>
                <a:latin typeface="Alef"/>
                <a:ea typeface="Alef"/>
                <a:cs typeface="Alef"/>
                <a:sym typeface="Alef"/>
              </a:rPr>
              <a:t>Bilkent University/CS-390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DAG85tbrSvI</dc:identifier>
  <dcterms:modified xsi:type="dcterms:W3CDTF">2011-08-01T06:04:30Z</dcterms:modified>
  <cp:revision>1</cp:revision>
  <dc:title>CS-390 Melike Kara</dc:title>
</cp:coreProperties>
</file>